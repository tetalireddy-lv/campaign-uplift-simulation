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9164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7D2FE"/>
                </a:solidFill>
              </a:rPr>
              <a:t>Campaign managers spend hours turning
raw briefs into launch-ready plans —
with no consistent quality 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9E0B"/>
                </a:solidFill>
              </a:rP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Hours lost on manual brief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673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9E0B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13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systematic readiness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42569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9E0B"/>
                </a:solidFill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7141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Compliance risks caught too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0840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9E0B"/>
                </a:solidFill>
              </a:rPr>
              <a:t>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978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Endless revision cycles before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64008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</a:rPr>
              <a:t>Campaign Briefing
Is Broken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28600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28600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4688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F46E5"/>
                </a:solidFill>
              </a:rP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154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of campaigns launch with at least one
critical brief gap unresolved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28600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228600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4688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F46E5"/>
                </a:solidFill>
              </a:rPr>
              <a:t>3–5×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54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average revision cycles before a brief
is approved for 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425196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425196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4348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F46E5"/>
                </a:solidFill>
              </a:rPr>
              <a:t>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of campaign failures traced back
to unclear objectives or KPIs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25196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425196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4348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F46E5"/>
                </a:solidFill>
              </a:rPr>
              <a:t>$2M+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</a:rPr>
              <a:t>average waste per enterprise from
poorly scoped campaigns annually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57432" y="1371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 /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Campaign Readiness Copilot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827"/>
                </a:solidFill>
              </a:rPr>
              <a:t>Campaign Readiness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</a:rPr>
              <a:t>An AI-powered workflow that takes a campaign manager from raw brief to launch-ready plan in minutes — not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" y="219456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892" y="2194560"/>
            <a:ext cx="21945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8700" y="2359152"/>
            <a:ext cx="694944" cy="6949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377440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" y="32004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</a:rPr>
              <a:t>Understand
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" y="40233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Parse &amp; classify
raw campaign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028" y="3337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8044" y="219456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8044" y="2194560"/>
            <a:ext cx="21945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7852" y="2359152"/>
            <a:ext cx="694944" cy="6949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7852" y="2377440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9484" y="32004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</a:rPr>
              <a:t>Validate
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9484" y="40233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Score gaps, risks
&amp; KPI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9180" y="3337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7196" y="219456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97196" y="2194560"/>
            <a:ext cx="2194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47004" y="2359152"/>
            <a:ext cx="694944" cy="694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7004" y="2377440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8636" y="32004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</a:rPr>
              <a:t>Resolve
Ambiguity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8636" y="40233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AI questions +
assumption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8332" y="3337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6348" y="219456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6348" y="2194560"/>
            <a:ext cx="2194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6156" y="2359152"/>
            <a:ext cx="694944" cy="6949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6156" y="2377440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7788" y="32004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</a:rPr>
              <a:t>Plan &amp;
Simulate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7788" y="40233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Channel strategy,
timeline &amp; uplift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7484" y="3337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15500" y="219456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15500" y="2194560"/>
            <a:ext cx="21945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65308" y="2359152"/>
            <a:ext cx="694944" cy="6949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5308" y="2377440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6940" y="320040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</a:rPr>
              <a:t>QA &amp;
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06940" y="40233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3-way QA check
+ stakeholder pack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" y="5074920"/>
            <a:ext cx="2834640" cy="1417320"/>
          </a:xfrm>
          <a:prstGeom prst="rect">
            <a:avLst/>
          </a:prstGeom>
          <a:solidFill>
            <a:srgbClr val="EE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" y="516636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🧑‍💼  Human-in-the-Loop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" y="5605272"/>
            <a:ext cx="2633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Manager approves every assumption before AI proceeds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82112" y="5074920"/>
            <a:ext cx="2834640" cy="1417320"/>
          </a:xfrm>
          <a:prstGeom prst="rect">
            <a:avLst/>
          </a:prstGeom>
          <a:solidFill>
            <a:srgbClr val="EE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516636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🔌  Works Offline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605272"/>
            <a:ext cx="2633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Full mock fallback — no Azure key required for demo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074920"/>
            <a:ext cx="2834640" cy="1417320"/>
          </a:xfrm>
          <a:prstGeom prst="rect">
            <a:avLst/>
          </a:prstGeom>
          <a:solidFill>
            <a:srgbClr val="EE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516636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⚡  Parallel Execution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5605272"/>
            <a:ext cx="2633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Concurrent tool calls cut per-step latency by ~60%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62288" y="5074920"/>
            <a:ext cx="2834640" cy="1417320"/>
          </a:xfrm>
          <a:prstGeom prst="rect">
            <a:avLst/>
          </a:prstGeom>
          <a:solidFill>
            <a:srgbClr val="EE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72016" y="516636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📋  Stakeholder Handoff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2016" y="5605272"/>
            <a:ext cx="2633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Auto-generated exec summary + risk register + next steps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57432" y="1371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 / 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5624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Campaign Readiness Copilot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</a:rPr>
              <a:t>Three-Tier Full-Stack + LangGraph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331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331720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2704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38528"/>
            <a:ext cx="2130552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React 18 + Vite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TypeScript + Tailwind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5-page workflow UI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Axios API client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localhost:5173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463040"/>
            <a:ext cx="2331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463040"/>
            <a:ext cx="23317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52704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938528"/>
            <a:ext cx="2130552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FastAPI (Python)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7 REST endpoints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Pydantic validation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In-memory sessions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localhost:8000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463040"/>
            <a:ext cx="3200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1463040"/>
            <a:ext cx="32004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52704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AGENT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1938528"/>
            <a:ext cx="2999232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LangGraph state machine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7 nodes · 2 conditional routes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parse → validate → ambiguity →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  approve → plan → QA → handoff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QA loop-back on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463040"/>
            <a:ext cx="32004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463040"/>
            <a:ext cx="320040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152704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LLM /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1938528"/>
            <a:ext cx="299923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Azure OpenAI (GPT)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14 Jinja2 prompt templates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Organised by workflow step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11827"/>
                </a:solidFill>
              </a:rPr>
              <a:t>• Auto-fallback to mock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4023360"/>
            <a:ext cx="3200400" cy="23774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4023360"/>
            <a:ext cx="32004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14 TOOL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462272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</a:rPr>
              <a:t>brief_parser · classify_intent · gap_detector
compliance_risk · kpi_review · clarification_q
assumption_reg · channel_strategy · exec_plan
asset_checklist · timeline_wb · uplift_sim
brief_to_plan_qa · handoff_packet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9776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9776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776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8404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6400800"/>
            <a:ext cx="1184148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Python 3.10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49908" y="6400800"/>
            <a:ext cx="1010412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6400800"/>
            <a:ext cx="836676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79876" y="6400800"/>
            <a:ext cx="923544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94860" y="6400800"/>
            <a:ext cx="1531620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Vite + Tailwind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640080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0376" y="640080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Jinja2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21624" y="6400800"/>
            <a:ext cx="923544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Pydantic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36608" y="6400800"/>
            <a:ext cx="836676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asyncio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57432" y="1371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 /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5624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Campaign Readiness Copilot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Impact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</a:rPr>
              <a:t>From Brief to Launch-Ready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A live demonstration of all 5 steps — works with or without Azure OpenAI credentials.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" y="201168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1188" y="2011680"/>
            <a:ext cx="2743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" y="2176272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</a:rPr>
              <a:t>&lt;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" y="2880360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Full 5-step workflow
from brief to handoff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80" y="201168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8980" y="2011680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40" y="2176272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14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2880360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Modular AI functions,
each independently 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201168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2011680"/>
            <a:ext cx="274320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3932" y="2176272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EA5E9"/>
                </a:solidFill>
              </a:rPr>
              <a:t>2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880360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Live Azure OpenAI
or full mock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4564" y="2011680"/>
            <a:ext cx="27432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4564" y="201168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1724" y="2176272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4292" y="2880360"/>
            <a:ext cx="2542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Human approval required
before AI plans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31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</a:rPr>
              <a:t>How to Run the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4348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Clone repo &amp; copy .env.example → .env (or skip for mock mode)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873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73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Terminal A: .venv/bin/uvicorn backend.main:app --reload --port 8000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31266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126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Terminal B: cd frontend &amp;&amp; npm install &amp;&amp; npm run 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75157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51575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Open http://localhost:5173 — paste any campaign brief and click Start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6190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1904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</a:rPr>
              <a:t>Walk through all 5 steps; download the Handoff Packet at the 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40480"/>
            <a:ext cx="5577840" cy="2606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776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What's Inside the Repo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62272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7D2FE"/>
                </a:solidFill>
              </a:rPr>
              <a:t>▸  agent/workflow/   LangGraph graph, nodes &amp; state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7D2FE"/>
                </a:solidFill>
              </a:rPr>
              <a:t>▸  agent/tools/      14 async tool functions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7D2FE"/>
                </a:solidFill>
              </a:rPr>
              <a:t>▸  agent/prompts/    14 Jinja2 LLM prompt templates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7D2FE"/>
                </a:solidFill>
              </a:rPr>
              <a:t>▸  backend/          FastAPI app + 7 routes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7D2FE"/>
                </a:solidFill>
              </a:rPr>
              <a:t>▸  frontend/src/     React 18 UI components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7D2FE"/>
                </a:solidFill>
              </a:rPr>
              <a:t>▸  diagrams/         Architecture.png + this deck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7D2FE"/>
                </a:solidFill>
              </a:rPr>
              <a:t>▸  tests/            pytest suite (mock + async)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🔗  github.com/tetalireddy-lv/Campaign-uplift-simulation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57432" y="1371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