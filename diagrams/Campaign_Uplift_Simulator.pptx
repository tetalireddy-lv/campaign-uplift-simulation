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2011680"/>
            <a:ext cx="5852160" cy="5852160"/>
          </a:xfrm>
          <a:prstGeom prst="ellipse">
            <a:avLst/>
          </a:prstGeom>
          <a:solidFill>
            <a:srgbClr val="26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3474720"/>
            <a:ext cx="3657600" cy="3657600"/>
          </a:xfrm>
          <a:prstGeom prst="ellipse">
            <a:avLst/>
          </a:prstGeom>
          <a:solidFill>
            <a:srgbClr val="224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0" y="4846320"/>
            <a:ext cx="2194560" cy="2194560"/>
          </a:xfrm>
          <a:prstGeom prst="ellipse">
            <a:avLst/>
          </a:prstGeom>
          <a:solidFill>
            <a:srgbClr val="20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286000" cy="3200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Campaign Uplift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BEAFE"/>
                </a:solidFill>
                <a:latin typeface="Calibri"/>
              </a:rPr>
              <a:t>AI-assisted campaign readiness, planning, and uplift simulation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03320"/>
            <a:ext cx="3200400" cy="36576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A5C8FF"/>
                </a:solidFill>
                <a:latin typeface="Calibri"/>
              </a:rPr>
              <a:t>"Will this campaign move the right number — and can we prove it?"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Team: [Your Team Name]     |     2026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01 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08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02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6173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03 Brief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425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04 Why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234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05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043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06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851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07 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660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08 Simulation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469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09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2778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10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086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11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Campaign Managers Are Flying Blind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  <a:latin typeface="Calibri"/>
              </a:rPr>
              <a:t>The brief is approved. The campaign is live. Nobody knows if it will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" y="1243584"/>
            <a:ext cx="2194560" cy="3291840"/>
          </a:xfrm>
          <a:prstGeom prst="rect">
            <a:avLst/>
          </a:prstGeom>
          <a:solidFill>
            <a:srgbClr val="FFFFFF"/>
          </a:solidFill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" y="1243584"/>
            <a:ext cx="21945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6988" y="1444752"/>
            <a:ext cx="512064" cy="512064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6988" y="146304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" y="2112264"/>
            <a:ext cx="1975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  <a:latin typeface="Calibri"/>
              </a:rPr>
              <a:t>Vague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" y="2615184"/>
            <a:ext cx="19751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Briefs arrive with aspirational targets and no measurable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1468" y="1243584"/>
            <a:ext cx="2194560" cy="3291840"/>
          </a:xfrm>
          <a:prstGeom prst="rect">
            <a:avLst/>
          </a:prstGeom>
          <a:solidFill>
            <a:srgbClr val="FFFFFF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1468" y="1243584"/>
            <a:ext cx="21945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42716" y="1444752"/>
            <a:ext cx="512064" cy="512064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2716" y="146304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1196" y="2112264"/>
            <a:ext cx="1975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Weak 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1196" y="2615184"/>
            <a:ext cx="19751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Target segments are broadly defined with no behavioural signal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7196" y="1243584"/>
            <a:ext cx="2194560" cy="3291840"/>
          </a:xfrm>
          <a:prstGeom prst="rect">
            <a:avLst/>
          </a:prstGeom>
          <a:solidFill>
            <a:srgbClr val="FFFFFF"/>
          </a:solidFill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97196" y="1243584"/>
            <a:ext cx="21945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38444" y="1444752"/>
            <a:ext cx="512064" cy="512064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8444" y="146304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6924" y="2112264"/>
            <a:ext cx="1975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  <a:latin typeface="Calibri"/>
              </a:rPr>
              <a:t>No Measurement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6924" y="2615184"/>
            <a:ext cx="19751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Success criteria are absent — no KPI, no control group, no attribution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92924" y="1243584"/>
            <a:ext cx="2194560" cy="3291840"/>
          </a:xfrm>
          <a:prstGeom prst="rect">
            <a:avLst/>
          </a:prstGeom>
          <a:solidFill>
            <a:srgbClr val="FFFFFF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92924" y="1243584"/>
            <a:ext cx="21945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34172" y="1444752"/>
            <a:ext cx="512064" cy="512064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4172" y="146304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2652" y="2112264"/>
            <a:ext cx="1975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Rushed Handoff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2652" y="2615184"/>
            <a:ext cx="19751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Execution begins before the plan is validated or complete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8652" y="1243584"/>
            <a:ext cx="2194560" cy="3291840"/>
          </a:xfrm>
          <a:prstGeom prst="rect">
            <a:avLst/>
          </a:prstGeom>
          <a:solidFill>
            <a:srgbClr val="FFFFFF"/>
          </a:solidFill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88652" y="1243584"/>
            <a:ext cx="21945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29900" y="1444752"/>
            <a:ext cx="512064" cy="512064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29900" y="146304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8380" y="2112264"/>
            <a:ext cx="1975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  <a:latin typeface="Calibri"/>
              </a:rPr>
              <a:t>Unproven ROI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8380" y="2615184"/>
            <a:ext cx="19751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Campaign ends with spend data but no proof of business impact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007608"/>
            <a:ext cx="12188952" cy="5943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09904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EF4444"/>
                </a:solidFill>
                <a:latin typeface="Calibri"/>
              </a:rPr>
              <a:t>💡  "The problem is not the campaign. The problem is the readiness of the plan behind it."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0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01 Title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08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02 Problem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16173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03 Brief Input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2425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04 Why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234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05 Solution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043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06 Workflow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4851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07 Arch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660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08 Simulation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469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09 Results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2778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10 Control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8086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11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a Campaign Manager Actually Submits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  <a:latin typeface="Calibri"/>
              </a:rPr>
              <a:t>A real brief — some fields complete, many missing. The simulator finds every gap.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43584"/>
            <a:ext cx="6949440" cy="511149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43584"/>
            <a:ext cx="6949440" cy="42062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16736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📄  Campaign Brief — Q2 Product 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46504"/>
            <a:ext cx="6949440" cy="3246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46504"/>
            <a:ext cx="50292" cy="32461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792224"/>
            <a:ext cx="274320" cy="23317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01368"/>
            <a:ext cx="27432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1737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Campaign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810512"/>
            <a:ext cx="4526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Q2 Premium Product Launch — New SKU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71116"/>
            <a:ext cx="6949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093976"/>
            <a:ext cx="6949440" cy="3246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093976"/>
            <a:ext cx="50292" cy="32461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139696"/>
            <a:ext cx="274320" cy="23317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148840"/>
            <a:ext cx="27432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157984"/>
            <a:ext cx="1737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Objective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157984"/>
            <a:ext cx="4526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Drive awareness and trial among premium segment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18588"/>
            <a:ext cx="6949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441448"/>
            <a:ext cx="6949440" cy="3246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441448"/>
            <a:ext cx="50292" cy="32461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2487168"/>
            <a:ext cx="274320" cy="23317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496312"/>
            <a:ext cx="27432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505456"/>
            <a:ext cx="1737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Target Audience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2505456"/>
            <a:ext cx="4526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Adults 25–45, household income &gt;$75k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766060"/>
            <a:ext cx="6949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2788920"/>
            <a:ext cx="6949440" cy="3246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2788920"/>
            <a:ext cx="50292" cy="32461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2834640"/>
            <a:ext cx="274320" cy="23317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843784"/>
            <a:ext cx="27432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2852928"/>
            <a:ext cx="1737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Channels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2852928"/>
            <a:ext cx="4526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Digital, Social Media, Out-of-Home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113532"/>
            <a:ext cx="6949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3136392"/>
            <a:ext cx="6949440" cy="3246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3136392"/>
            <a:ext cx="50292" cy="32461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182112"/>
            <a:ext cx="274320" cy="23317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191256"/>
            <a:ext cx="27432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200400"/>
            <a:ext cx="1737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Budget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3200400"/>
            <a:ext cx="4526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$250,000 total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461004"/>
            <a:ext cx="6949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3483864"/>
            <a:ext cx="6949440" cy="3246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3483864"/>
            <a:ext cx="50292" cy="32461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3529584"/>
            <a:ext cx="274320" cy="23317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538728"/>
            <a:ext cx="27432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547872"/>
            <a:ext cx="1737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Timeline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0" y="3547872"/>
            <a:ext cx="4526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6 weeks starting June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808476"/>
            <a:ext cx="6949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4320" y="3831336"/>
            <a:ext cx="6949440" cy="32461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4320" y="3831336"/>
            <a:ext cx="50292" cy="3246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5760" y="3877056"/>
            <a:ext cx="274320" cy="2331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3886200"/>
            <a:ext cx="27432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3895344"/>
            <a:ext cx="1737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Primary KPI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0" y="3895344"/>
            <a:ext cx="4526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9E0B"/>
                </a:solidFill>
                <a:latin typeface="Calibri"/>
              </a:rPr>
              <a:t>Increase sales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155948"/>
            <a:ext cx="6949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4320" y="4178808"/>
            <a:ext cx="6949440" cy="32461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4320" y="4178808"/>
            <a:ext cx="50292" cy="3246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760" y="4224528"/>
            <a:ext cx="274320" cy="2331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4233672"/>
            <a:ext cx="27432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4242816"/>
            <a:ext cx="1737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KPI Baseline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60320" y="4242816"/>
            <a:ext cx="4526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F4444"/>
                </a:solidFill>
                <a:latin typeface="Calibri"/>
              </a:rPr>
              <a:t>Not provided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4503420"/>
            <a:ext cx="6949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4320" y="4526280"/>
            <a:ext cx="6949440" cy="32461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74320" y="4526280"/>
            <a:ext cx="50292" cy="3246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65760" y="4572000"/>
            <a:ext cx="274320" cy="2331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4581144"/>
            <a:ext cx="27432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590288"/>
            <a:ext cx="1737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Success Threshold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60320" y="4590288"/>
            <a:ext cx="4526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F4444"/>
                </a:solidFill>
                <a:latin typeface="Calibri"/>
              </a:rPr>
              <a:t>Not defined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850892"/>
            <a:ext cx="6949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74320" y="4873752"/>
            <a:ext cx="6949440" cy="32461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74320" y="4873752"/>
            <a:ext cx="50292" cy="3246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65760" y="4919472"/>
            <a:ext cx="274320" cy="2331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4928616"/>
            <a:ext cx="27432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4937760"/>
            <a:ext cx="1737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Control Strategy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60320" y="4937760"/>
            <a:ext cx="4526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F4444"/>
                </a:solidFill>
                <a:latin typeface="Calibri"/>
              </a:rPr>
              <a:t>Not defined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5198364"/>
            <a:ext cx="6949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4320" y="5221224"/>
            <a:ext cx="6949440" cy="32461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4320" y="5221224"/>
            <a:ext cx="50292" cy="3246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65760" y="5266944"/>
            <a:ext cx="274320" cy="2331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" y="5276088"/>
            <a:ext cx="27432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5285232"/>
            <a:ext cx="1737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Attribution Method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60320" y="5285232"/>
            <a:ext cx="4526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9E0B"/>
                </a:solidFill>
                <a:latin typeface="Calibri"/>
              </a:rPr>
              <a:t>Mentioned but unspecified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5545836"/>
            <a:ext cx="6949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4320" y="5568696"/>
            <a:ext cx="6949440" cy="32461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74320" y="5568696"/>
            <a:ext cx="50292" cy="3246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65760" y="5614416"/>
            <a:ext cx="274320" cy="2331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623560"/>
            <a:ext cx="27432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5632704"/>
            <a:ext cx="1737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Audience Segments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560320" y="5632704"/>
            <a:ext cx="4526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9E0B"/>
                </a:solidFill>
                <a:latin typeface="Calibri"/>
              </a:rPr>
              <a:t>Broad — no behavioural split provided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5893308"/>
            <a:ext cx="6949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74320" y="5916168"/>
            <a:ext cx="6949440" cy="32461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74320" y="5916168"/>
            <a:ext cx="50292" cy="3246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65760" y="5961888"/>
            <a:ext cx="274320" cy="2331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60" y="5971032"/>
            <a:ext cx="27432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1520" y="5980176"/>
            <a:ext cx="1737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ROI Expectation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560320" y="5980176"/>
            <a:ext cx="4526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F4444"/>
                </a:solidFill>
                <a:latin typeface="Calibri"/>
              </a:rPr>
              <a:t>Not provided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" y="6240780"/>
            <a:ext cx="6949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498080" y="1243584"/>
            <a:ext cx="4462272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80960" y="1380744"/>
            <a:ext cx="4187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BEAFE"/>
                </a:solidFill>
                <a:latin typeface="Calibri"/>
              </a:rPr>
              <a:t>Readiness Score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680960" y="1655064"/>
            <a:ext cx="4187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F4444"/>
                </a:solidFill>
                <a:latin typeface="Calibri"/>
              </a:rPr>
              <a:t>38 / 100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80960" y="2359152"/>
            <a:ext cx="4187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EE2E2"/>
                </a:solidFill>
                <a:latin typeface="Calibri"/>
              </a:rPr>
              <a:t>NOT READY FOR LAUNCH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498080" y="2816352"/>
            <a:ext cx="1402080" cy="914400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498080" y="2889504"/>
            <a:ext cx="140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F4444"/>
                </a:solidFill>
                <a:latin typeface="Calibri"/>
              </a:rPr>
              <a:t>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98080" y="3364992"/>
            <a:ext cx="140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4444"/>
                </a:solidFill>
                <a:latin typeface="Calibri"/>
              </a:rPr>
              <a:t>Critical
Gaps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028176" y="2816352"/>
            <a:ext cx="1402080" cy="91440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028176" y="2889504"/>
            <a:ext cx="140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28176" y="3364992"/>
            <a:ext cx="140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Calibri"/>
              </a:rPr>
              <a:t>Warnings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558272" y="2816352"/>
            <a:ext cx="1402080" cy="914400"/>
          </a:xfrm>
          <a:prstGeom prst="rect">
            <a:avLst/>
          </a:prstGeom>
          <a:solidFill>
            <a:srgbClr val="D1FAE5"/>
          </a:solidFill>
          <a:ln w="1905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558272" y="2889504"/>
            <a:ext cx="140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C77B"/>
                </a:solidFill>
                <a:latin typeface="Calibri"/>
              </a:rP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558272" y="3364992"/>
            <a:ext cx="140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4C77B"/>
                </a:solidFill>
                <a:latin typeface="Calibri"/>
              </a:rPr>
              <a:t>Fields
Complete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80" y="3913632"/>
            <a:ext cx="4462272" cy="29260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498080" y="3959352"/>
            <a:ext cx="44622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What happens next: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498080" y="4261104"/>
            <a:ext cx="4462272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607808" y="433425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→  Asks 4 targeted clarification questions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498080" y="4718304"/>
            <a:ext cx="44622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607808" y="479145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→  Proposes assumptions for missing fields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98080" y="5175504"/>
            <a:ext cx="4462272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607808" y="524865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→  Awaits manager approval before proceeding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498080" y="5632704"/>
            <a:ext cx="44622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607808" y="570585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→  Builds plan only after sign-off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4320" y="6108192"/>
            <a:ext cx="237744" cy="237744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74320" y="6135624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66928" y="61447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Complete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468880" y="6108192"/>
            <a:ext cx="237744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468880" y="6135624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761488" y="61447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Warning / Vague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663440" y="6108192"/>
            <a:ext cx="237744" cy="23774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663440" y="6135624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956048" y="61447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Missing / Critical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0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01 Title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0808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02 Problem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216173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03 Brief Input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2425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04 Why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43234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05 Solution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54043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06 Workflow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64851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07 Arch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75660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08 Simulation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86469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09 Results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972778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10 Control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08086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11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Cost of an Unready Campaign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  <a:latin typeface="Calibri"/>
              </a:rPr>
              <a:t>Every gap in the brief becomes a gap in your results.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16152"/>
            <a:ext cx="557784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16152"/>
            <a:ext cx="82296" cy="2148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990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💸  Wasted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8745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Teams commit spend without expected uplift visibility. Budget decisions are made on instinct, not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216152"/>
            <a:ext cx="557784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1216152"/>
            <a:ext cx="82296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990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📉  Lost 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ROI is guessed after the fact. There is no way to separate the campaign's effect from market noise.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66160"/>
            <a:ext cx="557784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566160"/>
            <a:ext cx="82296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7490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⏳  Slow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224528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Teams spend 30–50% of planning time clarifying basic inputs that should have been in the original brief.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3566160"/>
            <a:ext cx="557784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3566160"/>
            <a:ext cx="82296" cy="2148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7490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🕳  Manager Blindspot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224528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Campaign managers lose control to black-box tools that don't explain their recommendations or outputs.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007608"/>
            <a:ext cx="121889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09904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"Campaigns should be planned around proof — not hope."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01 Title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08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02 Problem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6173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03 Brief 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425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04 Why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234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05 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4043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06 Workflow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851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07 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660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08 Simulation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469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09 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72778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10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8086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11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Campaign Uplift Simulator — 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  <a:latin typeface="Calibri"/>
              </a:rPr>
              <a:t>Eight structured steps from vague brief to validated campaign plan with uplift forecast.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" y="1353312"/>
            <a:ext cx="1316736" cy="7132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" y="1417320"/>
            <a:ext cx="1316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" y="16733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Parse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180" y="157276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1348" y="1353312"/>
            <a:ext cx="1316736" cy="71323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1348" y="1417320"/>
            <a:ext cx="1316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1348" y="16733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Score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8084" y="157276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9252" y="1353312"/>
            <a:ext cx="1316736" cy="713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9252" y="1417320"/>
            <a:ext cx="1316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9252" y="16733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Flag Gaps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5988" y="157276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77156" y="1353312"/>
            <a:ext cx="1316736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7156" y="1417320"/>
            <a:ext cx="1316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7156" y="16733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Clarify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3892" y="157276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5060" y="1353312"/>
            <a:ext cx="1316736" cy="71323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5060" y="1417320"/>
            <a:ext cx="1316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5060" y="16733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Approve Assumptions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1796" y="157276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12964" y="1353312"/>
            <a:ext cx="1316736" cy="71323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12964" y="1417320"/>
            <a:ext cx="1316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2964" y="16733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Build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9700" y="157276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  <a:latin typeface="Calibri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0868" y="1353312"/>
            <a:ext cx="1316736" cy="7132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0868" y="1417320"/>
            <a:ext cx="1316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0868" y="16733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Simulate Uplift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47604" y="157276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  <a:latin typeface="Calibri"/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48772" y="1353312"/>
            <a:ext cx="1316736" cy="71323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48772" y="1417320"/>
            <a:ext cx="1316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48772" y="16733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Final Handoff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9749" y="2478024"/>
            <a:ext cx="3749039" cy="2286000"/>
          </a:xfrm>
          <a:prstGeom prst="rect">
            <a:avLst/>
          </a:prstGeom>
          <a:solidFill>
            <a:srgbClr val="DBEAFE"/>
          </a:solidFill>
          <a:ln w="2286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9749" y="2478024"/>
            <a:ext cx="3749039" cy="6400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9" y="2660904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7"/>
                </a:solidFill>
                <a:latin typeface="Calibri"/>
              </a:rPr>
              <a:t>🏗  Structured Readiness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9" y="3191256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Turns vague, incomplete briefs into validated, schema-driven campaign plans ready for execution.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19956" y="2478024"/>
            <a:ext cx="3749039" cy="2286000"/>
          </a:xfrm>
          <a:prstGeom prst="rect">
            <a:avLst/>
          </a:prstGeom>
          <a:solidFill>
            <a:srgbClr val="D1FAE5"/>
          </a:solidFill>
          <a:ln w="2286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19956" y="2478024"/>
            <a:ext cx="3749039" cy="64008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02836" y="2660904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C77B"/>
                </a:solidFill>
                <a:latin typeface="Calibri"/>
              </a:rPr>
              <a:t>👤  Human-in-the-Loop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2836" y="3191256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Manager approves every AI-generated assumption before the workflow advances to the next step.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70163" y="2478024"/>
            <a:ext cx="3749039" cy="2286000"/>
          </a:xfrm>
          <a:prstGeom prst="rect">
            <a:avLst/>
          </a:prstGeom>
          <a:solidFill>
            <a:srgbClr val="DBEAFE"/>
          </a:solidFill>
          <a:ln w="2286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70163" y="2478024"/>
            <a:ext cx="3749039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53043" y="2660904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📊  Deterministic Simulation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3043" y="3191256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Same inputs always produce the same uplift estimate. Fully auditable, traceable, and explainable.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007608"/>
            <a:ext cx="121889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09904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"AI structures and validates. The manager decides. The simulation predicts. Everyone sees the same numbers before launch."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0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01 Title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808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02 Problem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16173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03 Brief Input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2425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04 Why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3234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05 Solution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4043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06 Workflow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4851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07 Arch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660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08 Simulation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469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09 Results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72778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10 Control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8086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11 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Human-in-the-Loop, Every Step of the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  <a:latin typeface="Calibri"/>
              </a:rPr>
              <a:t>AI structures and suggests. The manager validates, approves, and controls.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" y="1399032"/>
            <a:ext cx="1051560" cy="53035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490472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Brief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1527048"/>
            <a:ext cx="82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E3A5F"/>
                </a:solidFill>
                <a:latin typeface="Calibri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1399032"/>
            <a:ext cx="1051560" cy="53035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1490472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Understand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527048"/>
            <a:ext cx="82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E3A5F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34056" y="1399032"/>
            <a:ext cx="1051560" cy="53035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34056" y="1490472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Readiness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616" y="1527048"/>
            <a:ext cx="82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E3A5F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67912" y="1399032"/>
            <a:ext cx="1051560" cy="5303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7912" y="1490472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Gap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1527048"/>
            <a:ext cx="82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E3A5F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1768" y="1316736"/>
            <a:ext cx="1051560" cy="694944"/>
          </a:xfrm>
          <a:prstGeom prst="rect">
            <a:avLst/>
          </a:prstGeom>
          <a:solidFill>
            <a:srgbClr val="F59E0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1408176"/>
            <a:ext cx="10515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Clarification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2011680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59E0B"/>
                </a:solidFill>
                <a:latin typeface="Calibri"/>
              </a:rPr>
              <a:t>👤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527048"/>
            <a:ext cx="82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E3A5F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35624" y="1316736"/>
            <a:ext cx="1051560" cy="694944"/>
          </a:xfrm>
          <a:prstGeom prst="rect">
            <a:avLst/>
          </a:prstGeom>
          <a:solidFill>
            <a:srgbClr val="34C77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5624" y="1408176"/>
            <a:ext cx="10515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Assumption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5624" y="2011680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34C77B"/>
                </a:solidFill>
                <a:latin typeface="Calibri"/>
              </a:rPr>
              <a:t>👤 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4" y="1527048"/>
            <a:ext cx="82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E3A5F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1399032"/>
            <a:ext cx="1051560" cy="53035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1490472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Campaign Plan Generated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527048"/>
            <a:ext cx="82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E3A5F"/>
                </a:solidFill>
                <a:latin typeface="Calibri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03336" y="1399032"/>
            <a:ext cx="105156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1490472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Uplift Simulation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896" y="1527048"/>
            <a:ext cx="82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E3A5F"/>
                </a:solidFill>
                <a:latin typeface="Calibr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37192" y="1399032"/>
            <a:ext cx="1051560" cy="53035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192" y="1490472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QA 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88752" y="1527048"/>
            <a:ext cx="82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E3A5F"/>
                </a:solidFill>
                <a:latin typeface="Calibri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71048" y="1316736"/>
            <a:ext cx="1051560" cy="694944"/>
          </a:xfrm>
          <a:prstGeom prst="rect">
            <a:avLst/>
          </a:prstGeom>
          <a:solidFill>
            <a:srgbClr val="34C77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71048" y="1408176"/>
            <a:ext cx="10515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Final Handoff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71048" y="2011680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34C77B"/>
                </a:solidFill>
                <a:latin typeface="Calibri"/>
              </a:rPr>
              <a:t>👤 Manager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331720"/>
            <a:ext cx="201168" cy="20116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7" y="23317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AI Step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0" y="2331720"/>
            <a:ext cx="201168" cy="201168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58568" y="23317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Manager Approval Required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715768"/>
            <a:ext cx="3657600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280720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✓  Approve or reject any assumption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24528" y="2715768"/>
            <a:ext cx="3657600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34256" y="280720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✓  Edit channel mix before simulation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74736" y="2715768"/>
            <a:ext cx="3657600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280720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✓  Sign off before final handoff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337560"/>
            <a:ext cx="3657600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342900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✓  Nothing advances without approval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24528" y="3337560"/>
            <a:ext cx="3657600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34256" y="342900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✓  All assumptions visible and editable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74736" y="3337560"/>
            <a:ext cx="3657600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84464" y="342900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✓  Every uplift estimate is explainable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007608"/>
            <a:ext cx="121889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609904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"This is not automation. This is assisted decision-making with the manager in control."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0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01 Title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808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02 Problem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16173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03 Brief Input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2425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04 Why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234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05 Solution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4043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06 Workflow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4851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07 Arch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660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08 Simulation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6469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09 Results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2778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10 Control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8086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11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Built for Reliability, Designed for Extensibility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  <a:latin typeface="Calibri"/>
              </a:rPr>
              <a:t>Production-grade architecture. Hackathon-ready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43584"/>
            <a:ext cx="4114800" cy="47548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3502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React Frontend  (TypeScript)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1907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E82"/>
                </a:solidFill>
                <a:latin typeface="Calibri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01952"/>
            <a:ext cx="4114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9339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FastAPI Backend  (Python)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37744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E82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4114800" cy="4754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6517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LangGraph Orchestrated Workflow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46704"/>
            <a:ext cx="914400" cy="43891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1985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Brief Parser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3346704"/>
            <a:ext cx="914400" cy="43891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41985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Readiness Validator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3346704"/>
            <a:ext cx="914400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341985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Gap Detector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346704"/>
            <a:ext cx="91440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41985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Clarification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77056"/>
            <a:ext cx="914400" cy="43891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502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Planning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3877056"/>
            <a:ext cx="914400" cy="43891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39502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Simulation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3877056"/>
            <a:ext cx="91440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39502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QA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3877056"/>
            <a:ext cx="914400" cy="43891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39502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Handoff Generator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407408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82"/>
                </a:solidFill>
                <a:latin typeface="Calibri"/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681728"/>
            <a:ext cx="1261872" cy="43891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773168"/>
            <a:ext cx="1261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CSV Benchmark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37360" y="4681728"/>
            <a:ext cx="1261872" cy="438912"/>
          </a:xfrm>
          <a:prstGeom prst="rect">
            <a:avLst/>
          </a:prstGeom>
          <a:solidFill>
            <a:srgbClr val="06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37360" y="4773168"/>
            <a:ext cx="1261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Manager Assumptions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4681728"/>
            <a:ext cx="1261872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4773168"/>
            <a:ext cx="1261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Final Plan + Uplift Output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1243584"/>
            <a:ext cx="6949440" cy="5212080"/>
          </a:xfrm>
          <a:prstGeom prst="rect">
            <a:avLst/>
          </a:prstGeom>
          <a:solidFill>
            <a:srgbClr val="16243B"/>
          </a:solidFill>
          <a:ln w="1524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142646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7"/>
                </a:solidFill>
                <a:latin typeface="Calibri"/>
              </a:rPr>
              <a:t>Stack Highlights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1929384"/>
            <a:ext cx="3200400" cy="658368"/>
          </a:xfrm>
          <a:prstGeom prst="rect">
            <a:avLst/>
          </a:prstGeom>
          <a:solidFill>
            <a:srgbClr val="1E3558"/>
          </a:solidFill>
          <a:ln w="63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0" y="2039112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205740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Async / parallel LLM calls where beneficial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58200" y="1929384"/>
            <a:ext cx="3200400" cy="658368"/>
          </a:xfrm>
          <a:prstGeom prst="rect">
            <a:avLst/>
          </a:prstGeom>
          <a:solidFill>
            <a:srgbClr val="1E3558"/>
          </a:solidFill>
          <a:ln w="63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2039112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205740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CSV-backed benchmarks for deterministic simulation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20640" y="2734056"/>
            <a:ext cx="3200400" cy="658368"/>
          </a:xfrm>
          <a:prstGeom prst="rect">
            <a:avLst/>
          </a:prstGeom>
          <a:solidFill>
            <a:srgbClr val="1E3558"/>
          </a:solidFill>
          <a:ln w="63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80" y="2843784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60" y="286207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LangGraph multi-agent orchestration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58200" y="2734056"/>
            <a:ext cx="3200400" cy="658368"/>
          </a:xfrm>
          <a:prstGeom prst="rect">
            <a:avLst/>
          </a:prstGeom>
          <a:solidFill>
            <a:srgbClr val="1E3558"/>
          </a:solidFill>
          <a:ln w="63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49640" y="2843784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286207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Mock fallback layer — works without live credentials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20640" y="3538728"/>
            <a:ext cx="3200400" cy="658368"/>
          </a:xfrm>
          <a:prstGeom prst="rect">
            <a:avLst/>
          </a:prstGeom>
          <a:solidFill>
            <a:srgbClr val="1E3558"/>
          </a:solidFill>
          <a:ln w="63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2080" y="3648456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3560" y="3666744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FastAPI async endpoints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58200" y="3538728"/>
            <a:ext cx="3200400" cy="658368"/>
          </a:xfrm>
          <a:prstGeom prst="rect">
            <a:avLst/>
          </a:prstGeom>
          <a:solidFill>
            <a:srgbClr val="1E3558"/>
          </a:solidFill>
          <a:ln w="63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3648456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⚛️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3666744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React + TypeScript frontend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20640" y="4343400"/>
            <a:ext cx="3200400" cy="658368"/>
          </a:xfrm>
          <a:prstGeom prst="rect">
            <a:avLst/>
          </a:prstGeom>
          <a:solidFill>
            <a:srgbClr val="1E3558"/>
          </a:solidFill>
          <a:ln w="63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12080" y="4453128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60" y="447141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Deterministic simulation — same inputs, same output, always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0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01 Title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808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02 Problem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16173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03 Brief Input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2425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04 Why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3234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05 Solution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4043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06 Workflow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4851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07 Arch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5660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08 Simulation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6469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09 Results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72778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10 Control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8086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11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Three Scenarios. One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  <a:latin typeface="Calibri"/>
              </a:rPr>
              <a:t>Uplift is not a guess — it is a function of what you put 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" y="1261872"/>
            <a:ext cx="37033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1752" y="1261872"/>
            <a:ext cx="370332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408176"/>
            <a:ext cx="105156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0817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4444"/>
                </a:solidFill>
                <a:latin typeface="Calibri"/>
              </a:rPr>
              <a:t>Scenario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7556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Current Brief As-Is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221992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Uses only what's in the brief today. All gaps and missing inputs remain as-is.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8620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alibri"/>
              </a:rPr>
              <a:t>● Low 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2816" y="1261872"/>
            <a:ext cx="37033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42816" y="1261872"/>
            <a:ext cx="37033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1408176"/>
            <a:ext cx="1051560" cy="25603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140817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59E0B"/>
                </a:solidFill>
                <a:latin typeface="Calibri"/>
              </a:rPr>
              <a:t>Scenario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17556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Clarified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221992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Applies manager-approved assumptions to fill the identified gaps in the brief.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8620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● Medium Confidence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1261872"/>
            <a:ext cx="37033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1261872"/>
            <a:ext cx="3703320" cy="64008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1408176"/>
            <a:ext cx="105156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40817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C77B"/>
                </a:solidFill>
                <a:latin typeface="Calibri"/>
              </a:rPr>
              <a:t>Scenario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7556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C77B"/>
                </a:solidFill>
                <a:latin typeface="Calibri"/>
              </a:rPr>
              <a:t>Optimized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221992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Adds improved targeting, better channel mix, and higher execution quality.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8620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C77B"/>
                </a:solidFill>
                <a:latin typeface="Calibri"/>
              </a:rPr>
              <a:t>● High Confidence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38144"/>
            <a:ext cx="11640312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547872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FFFFFF"/>
                </a:solidFill>
                <a:latin typeface="Calibri"/>
              </a:rPr>
              <a:t>Uplift  =  f ( Historical Benchmarks,  Audience Segment Mix,  Channel Fit Score,  Budget Strength,  Message Clarity,  Execution Confidence 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8" y="4352544"/>
            <a:ext cx="276148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9748" y="4352544"/>
            <a:ext cx="64008" cy="80467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" y="44256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C77B"/>
                </a:solidFill>
                <a:latin typeface="Calibri"/>
              </a:rPr>
              <a:t>Persuadables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" y="4754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High-value — respond to messaging. Focus spend here.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32404" y="4352544"/>
            <a:ext cx="276148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32404" y="4352544"/>
            <a:ext cx="64008" cy="804672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6996" y="44256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8EF7"/>
                </a:solidFill>
                <a:latin typeface="Calibri"/>
              </a:rPr>
              <a:t>Sure Things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96996" y="4754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Will convert regardless — don't overspend.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5060" y="4352544"/>
            <a:ext cx="276148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5060" y="4352544"/>
            <a:ext cx="64008" cy="8046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9652" y="44256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Calibri"/>
              </a:rPr>
              <a:t>Lost Causes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9652" y="4754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Won't convert — exclude from targeting.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57716" y="4352544"/>
            <a:ext cx="276148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57716" y="4352544"/>
            <a:ext cx="64008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2308" y="44256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Do Not Disturb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2308" y="4754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Risk opt-out — handle carefully.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0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01 Title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808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02 Problem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16173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03 Brief Input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425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04 Why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234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05 Solution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4043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06 Workflow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851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07 Arch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660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08 Simulation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469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09 Results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72778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10 Control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8086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11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Before and After — What the Simulator Shows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  <a:latin typeface="Calibri"/>
              </a:rPr>
              <a:t>Concrete numbers before launch. Not guesses after.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16152"/>
            <a:ext cx="94183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28930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71216" y="1289304"/>
            <a:ext cx="18470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Expected KPI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91456" y="1289304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Market Uplift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1289304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ROI Estimate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6176" y="1289304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Confidence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64208"/>
            <a:ext cx="9418320" cy="411480"/>
          </a:xfrm>
          <a:prstGeom prst="rect">
            <a:avLst/>
          </a:prstGeom>
          <a:solidFill>
            <a:srgbClr val="FEE2E2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" y="173736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Current Brief As-Is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1737360"/>
            <a:ext cx="18470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1.2% 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173736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+4%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173736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1.1×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1737360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F4444"/>
                </a:solidFill>
                <a:latin typeface="Calibri"/>
              </a:rPr>
              <a:t>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12264"/>
            <a:ext cx="9418320" cy="411480"/>
          </a:xfrm>
          <a:prstGeom prst="rect">
            <a:avLst/>
          </a:prstGeom>
          <a:solidFill>
            <a:srgbClr val="FEF3C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2185416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Clarified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1216" y="2185416"/>
            <a:ext cx="18470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2.4% conversion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1456" y="2185416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+11%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2185416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2.3×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2185416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59E0B"/>
                </a:solidFill>
                <a:latin typeface="Calibri"/>
              </a:rPr>
              <a:t>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560320"/>
            <a:ext cx="9418320" cy="411480"/>
          </a:xfrm>
          <a:prstGeom prst="rect">
            <a:avLst/>
          </a:prstGeom>
          <a:solidFill>
            <a:srgbClr val="D1FAE5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" y="2633472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Optimized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71216" y="2633472"/>
            <a:ext cx="18470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3.8% conversion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6" y="2633472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+19%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2633472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3.6×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2633472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4C77B"/>
                </a:solidFill>
                <a:latin typeface="Calibri"/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1216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Market Uplift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95560" y="2898648"/>
            <a:ext cx="68580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5560" y="2660904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F4444"/>
                </a:solidFill>
                <a:latin typeface="Calibri"/>
              </a:rPr>
              <a:t>+4%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327355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As-Is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09960" y="2290572"/>
            <a:ext cx="685800" cy="9555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09960" y="2052828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Calibri"/>
              </a:rPr>
              <a:t>+11%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327355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Clarified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24360" y="1595628"/>
            <a:ext cx="685800" cy="1650492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024360" y="1357884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C77B"/>
                </a:solidFill>
                <a:latin typeface="Calibri"/>
              </a:rPr>
              <a:t>+19%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24360" y="327355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Optimized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209544"/>
            <a:ext cx="57150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3209544"/>
            <a:ext cx="64008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30098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💡  Missing baseline reduces simulation confidence by ~40%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53912" y="3209544"/>
            <a:ext cx="57150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53912" y="3209544"/>
            <a:ext cx="64008" cy="475488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6792" y="330098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💡  Clarified audience segment improves expected conversion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803904"/>
            <a:ext cx="57150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3803904"/>
            <a:ext cx="64008" cy="475488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89534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💡  Optimized channel mix improves ROI 56% over as-is plan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53912" y="3803904"/>
            <a:ext cx="57150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53912" y="3803904"/>
            <a:ext cx="64008" cy="47548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36792" y="389534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💡  Control strategy improves attribution measurability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398264"/>
            <a:ext cx="57150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4398264"/>
            <a:ext cx="64008" cy="475488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48970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💡  Clear budget allocation increases simulation confidence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53912" y="4398264"/>
            <a:ext cx="57150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53912" y="4398264"/>
            <a:ext cx="6400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36792" y="448970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💡  High message clarity score adds ~8% to uplift estimate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0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01 Title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808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02 Problem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16173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03 Brief Input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2425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04 Why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3234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05 Solution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4043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06 Workflow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4851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07 Arch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5660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08 Simulation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6469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09 Results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72778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10 Control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8086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11 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AI Assists. The Manager Decides.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  <a:latin typeface="Calibri"/>
              </a:rPr>
              <a:t>Transparent, auditable, and fully manager-controlled — by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657600" cy="1508760"/>
          </a:xfrm>
          <a:prstGeom prst="rect">
            <a:avLst/>
          </a:prstGeom>
          <a:solidFill>
            <a:srgbClr val="FFFFFF"/>
          </a:solidFill>
          <a:ln w="2286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657600" cy="64008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0624" y="1463040"/>
            <a:ext cx="457200" cy="4572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463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4C77B"/>
                </a:solidFill>
                <a:latin typeface="Calibri"/>
              </a:rPr>
              <a:t>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9961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C77B"/>
                </a:solidFill>
                <a:latin typeface="Calibri"/>
              </a:rPr>
              <a:t>No Auto-Launch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993392"/>
            <a:ext cx="34015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AI never triggers a campaign action. Launch is always a manual step.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1280160"/>
            <a:ext cx="3657600" cy="1508760"/>
          </a:xfrm>
          <a:prstGeom prst="rect">
            <a:avLst/>
          </a:prstGeom>
          <a:solidFill>
            <a:srgbClr val="FFFFFF"/>
          </a:solidFill>
          <a:ln w="2286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1280160"/>
            <a:ext cx="3657600" cy="64008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70832" y="1463040"/>
            <a:ext cx="457200" cy="4572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1463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4C77B"/>
                </a:solidFill>
                <a:latin typeface="Calibr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149961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C77B"/>
                </a:solidFill>
                <a:latin typeface="Calibri"/>
              </a:rPr>
              <a:t>Assumption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93392"/>
            <a:ext cx="34015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Manager reviews and signs off on every AI-generated assumption.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1280160"/>
            <a:ext cx="3657600" cy="1508760"/>
          </a:xfrm>
          <a:prstGeom prst="rect">
            <a:avLst/>
          </a:prstGeom>
          <a:solidFill>
            <a:srgbClr val="FFFFFF"/>
          </a:solidFill>
          <a:ln w="2286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74736" y="1280160"/>
            <a:ext cx="3657600" cy="64008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1040" y="1463040"/>
            <a:ext cx="457200" cy="4572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463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4C77B"/>
                </a:solidFill>
                <a:latin typeface="Calibri"/>
              </a:rPr>
              <a:t>✏️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149961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C77B"/>
                </a:solidFill>
                <a:latin typeface="Calibri"/>
              </a:rPr>
              <a:t>Editable Channel Mix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1993392"/>
            <a:ext cx="34015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Manager can adjust the channel mix before the simulation runs.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990088"/>
            <a:ext cx="3657600" cy="1508760"/>
          </a:xfrm>
          <a:prstGeom prst="rect">
            <a:avLst/>
          </a:prstGeom>
          <a:solidFill>
            <a:srgbClr val="FFFFFF"/>
          </a:solidFill>
          <a:ln w="2286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990088"/>
            <a:ext cx="3657600" cy="64008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0624" y="3172968"/>
            <a:ext cx="457200" cy="4572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3172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4C77B"/>
                </a:solidFill>
                <a:latin typeface="Calibri"/>
              </a:rPr>
              <a:t>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954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C77B"/>
                </a:solidFill>
                <a:latin typeface="Calibri"/>
              </a:rPr>
              <a:t>Explainable Estimates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3703320"/>
            <a:ext cx="34015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Every uplift number has a visible, traceable reason attached to it.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24528" y="2990088"/>
            <a:ext cx="3657600" cy="1508760"/>
          </a:xfrm>
          <a:prstGeom prst="rect">
            <a:avLst/>
          </a:prstGeom>
          <a:solidFill>
            <a:srgbClr val="FFFFFF"/>
          </a:solidFill>
          <a:ln w="2286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24528" y="2990088"/>
            <a:ext cx="3657600" cy="64008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70832" y="3172968"/>
            <a:ext cx="457200" cy="4572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3172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4C77B"/>
                </a:solidFill>
                <a:latin typeface="Calibri"/>
              </a:rPr>
              <a:t>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6048" y="320954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C77B"/>
                </a:solidFill>
                <a:latin typeface="Calibri"/>
              </a:rPr>
              <a:t>Visible Assumptions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3703320"/>
            <a:ext cx="34015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All assumptions are shown in the assumption register — always visible.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74736" y="2990088"/>
            <a:ext cx="3657600" cy="1508760"/>
          </a:xfrm>
          <a:prstGeom prst="rect">
            <a:avLst/>
          </a:prstGeom>
          <a:solidFill>
            <a:srgbClr val="FFFFFF"/>
          </a:solidFill>
          <a:ln w="2286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74736" y="2990088"/>
            <a:ext cx="3657600" cy="64008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21040" y="3172968"/>
            <a:ext cx="457200" cy="4572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3172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4C77B"/>
                </a:solidFill>
                <a:latin typeface="Calibri"/>
              </a:rPr>
              <a:t>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06256" y="320954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C77B"/>
                </a:solidFill>
                <a:latin typeface="Calibri"/>
              </a:rPr>
              <a:t>Manager Sign-Off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3703320"/>
            <a:ext cx="34015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Final handoff packet is released only after explicit manager approval.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007608"/>
            <a:ext cx="12188952" cy="59436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09904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"This tool is not here to replace judgment — it is here to make the manager's judgment better informed."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0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01 Title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808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02 Problem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16173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03 Brief Input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2425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04 Why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234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05 Solution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4043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06 Workflow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4851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07 Arch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5660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08 Simulation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469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09 Results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72778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10 Control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8086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11 Impact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Faster Plans. Better Campaigns. Measurable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  <a:latin typeface="Calibri"/>
              </a:rPr>
              <a:t>What Campaign Uplift Simulator delivers today — and where it goes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94960" cy="365760"/>
          </a:xfrm>
          <a:prstGeom prst="rect">
            <a:avLst/>
          </a:prstGeom>
          <a:solidFill>
            <a:srgbClr val="34C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  Impact —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00784"/>
            <a:ext cx="539496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013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Brief-to-plan conversion time reduced significantly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40864"/>
            <a:ext cx="539496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414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Campaign readiness visible before launch, not 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80944"/>
            <a:ext cx="539496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0815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ROI expectations set before budget is committed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21024"/>
            <a:ext cx="539496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7216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Handoff quality improved across campaign teams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61104"/>
            <a:ext cx="539496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34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3616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✓  Manager confidence increased at every planning step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  Future Scope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00784"/>
            <a:ext cx="5669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783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→  CRM integration for real audience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231136"/>
            <a:ext cx="5669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31343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→  Live benchmark feeds from ad platforms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761488"/>
            <a:ext cx="5669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8437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→  A/B testing recommendation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91840"/>
            <a:ext cx="5669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37413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→  Budget allocation optimizer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822192"/>
            <a:ext cx="5669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904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→  Multi-touch attribution modeling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352544"/>
            <a:ext cx="5669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4348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→  Auto-generated creative briefs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007608"/>
            <a:ext cx="12188952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09904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"Campaign Uplift Simulator shifts planning from 'Did we launch?' to 'Will this campaign move the right number — and can we prove it?'"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0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01 Title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808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02 Problem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6173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03 Brief Input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425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04 Why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2346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05 Solution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4043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06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8519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07 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660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08 Simulation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4692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09 Results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2778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10 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80865" y="6601968"/>
            <a:ext cx="11080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11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